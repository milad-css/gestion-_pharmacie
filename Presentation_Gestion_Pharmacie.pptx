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94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6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32320" y="-457200"/>
            <a:ext cx="5486400" cy="8229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68580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37360" y="15087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6B3C"/>
                </a:solidFill>
              </a:rPr>
              <a:t>Gestion Pharmacie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3774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5D6D7E"/>
                </a:solidFill>
              </a:rPr>
              <a:t>Système de gestion d'une pharmacie en ligne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108960"/>
            <a:ext cx="68580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6675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218C74"/>
                </a:solidFill>
              </a:rPr>
              <a:t>Laravel 13  •  React  •  Vite  •  Tailwind CSS  •  </a:t>
            </a:r>
            <a:r>
              <a:rPr lang="en-US" sz="1400" b="0" i="0" dirty="0" err="1">
                <a:solidFill>
                  <a:srgbClr val="218C74"/>
                </a:solidFill>
              </a:rPr>
              <a:t>mysql</a:t>
            </a:r>
            <a:endParaRPr sz="1400" b="0" i="0" dirty="0">
              <a:solidFill>
                <a:srgbClr val="218C7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370332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D6D7E"/>
                </a:solidFill>
              </a:rPr>
              <a:t>API REST  |  Authentification Sanctum  |  Rôles Admin /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Sommaire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88720"/>
            <a:ext cx="35661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50292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B3C"/>
                </a:solidFill>
              </a:rPr>
              <a:t>Vue d'ensemble du projet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D6D7E"/>
                </a:solidFill>
              </a:rPr>
              <a:t>Objectifs et contexte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188720"/>
            <a:ext cx="35661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60520" y="1188720"/>
            <a:ext cx="50292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06240" y="155448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32588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B3C"/>
                </a:solidFill>
              </a:rPr>
              <a:t>Stack technique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87452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D6D7E"/>
                </a:solidFill>
              </a:rPr>
              <a:t>Technologies utilisées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1188720"/>
            <a:ext cx="35661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188720"/>
            <a:ext cx="50292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155448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132588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B3C"/>
                </a:solidFill>
              </a:rPr>
              <a:t>Architecture du système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187452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D6D7E"/>
                </a:solidFill>
              </a:rPr>
              <a:t>Backend + Frontend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834640"/>
            <a:ext cx="35661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2834640"/>
            <a:ext cx="50292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320040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97180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B3C"/>
                </a:solidFill>
              </a:rPr>
              <a:t>Base de données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52044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D6D7E"/>
                </a:solidFill>
              </a:rPr>
              <a:t>Modèles &amp; relations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2834640"/>
            <a:ext cx="35661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160520" y="2834640"/>
            <a:ext cx="50292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06240" y="320040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297180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B3C"/>
                </a:solidFill>
              </a:rPr>
              <a:t>API REST — Backend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52044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D6D7E"/>
                </a:solidFill>
              </a:rPr>
              <a:t>Routes &amp; contrôleurs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2834640"/>
            <a:ext cx="35661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01000" y="2834640"/>
            <a:ext cx="50292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0" y="320040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297180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B3C"/>
                </a:solidFill>
              </a:rPr>
              <a:t>Interface Client (Frontend)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352044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D6D7E"/>
                </a:solidFill>
              </a:rPr>
              <a:t>Pages &amp; fonctionnalités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480560"/>
            <a:ext cx="35661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0040" y="4480560"/>
            <a:ext cx="50292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5760" y="48463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61772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B3C"/>
                </a:solidFill>
              </a:rPr>
              <a:t>Interface Admin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16636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D6D7E"/>
                </a:solidFill>
              </a:rPr>
              <a:t>Tableau de bord &amp; gestion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60520" y="4480560"/>
            <a:ext cx="35661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160520" y="4480560"/>
            <a:ext cx="50292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206240" y="48463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461772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B3C"/>
                </a:solidFill>
              </a:rPr>
              <a:t>Sécurité &amp; Authentification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516636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D6D7E"/>
                </a:solidFill>
              </a:rPr>
              <a:t>Sanctum, middleware, rôles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01000" y="4480560"/>
            <a:ext cx="35661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001000" y="4480560"/>
            <a:ext cx="50292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46720" y="48463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461772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B3C"/>
                </a:solidFill>
              </a:rPr>
              <a:t>Lancer le projet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516636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D6D7E"/>
                </a:solidFill>
              </a:rPr>
              <a:t>Installation &amp; démarrage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 — Vue d'ensemble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6B3C"/>
                </a:solidFill>
              </a:rPr>
              <a:t>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7202A"/>
                </a:solidFill>
              </a:rPr>
              <a:t>Application web complète pour la gestion d'une pharmacie en ligne. Elle permet à une pharmacie de présenter son catalogue, gérer les commandes clients, et administrer ses produits et stocks depuis un tableau de bord dédié.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468880"/>
            <a:ext cx="539496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5F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2560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6B3C"/>
                </a:solidFill>
              </a:rPr>
              <a:t>Fonctionnalités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80360"/>
            <a:ext cx="51206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7202A"/>
                </a:solidFill>
              </a:defRPr>
            </a:pPr>
            <a:r>
              <a:t>• Consulter le catalogue de médicaments</a:t>
            </a:r>
          </a:p>
          <a:p>
            <a:pPr>
              <a:defRPr sz="1400">
                <a:solidFill>
                  <a:srgbClr val="17202A"/>
                </a:solidFill>
              </a:defRPr>
            </a:pPr>
            <a:r>
              <a:t>• Rechercher et filtrer par catégorie</a:t>
            </a:r>
          </a:p>
          <a:p>
            <a:pPr>
              <a:defRPr sz="1400">
                <a:solidFill>
                  <a:srgbClr val="17202A"/>
                </a:solidFill>
              </a:defRPr>
            </a:pPr>
            <a:r>
              <a:t>• Ajouter des produits au panier</a:t>
            </a:r>
          </a:p>
          <a:p>
            <a:pPr>
              <a:defRPr sz="1400">
                <a:solidFill>
                  <a:srgbClr val="17202A"/>
                </a:solidFill>
              </a:defRPr>
            </a:pPr>
            <a:r>
              <a:t>• Passer et suivre ses commandes</a:t>
            </a:r>
          </a:p>
          <a:p>
            <a:pPr>
              <a:defRPr sz="1400">
                <a:solidFill>
                  <a:srgbClr val="17202A"/>
                </a:solidFill>
              </a:defRPr>
            </a:pPr>
            <a:r>
              <a:t>• Gérer son profil personnel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468880"/>
            <a:ext cx="548640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5F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5603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6B3C"/>
                </a:solidFill>
              </a:rPr>
              <a:t>Fonctionnalités 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880360"/>
            <a:ext cx="52120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7202A"/>
                </a:solidFill>
              </a:defRPr>
            </a:pPr>
            <a:r>
              <a:t>• Tableau de bord avec statistiques</a:t>
            </a:r>
          </a:p>
          <a:p>
            <a:pPr>
              <a:defRPr sz="1400">
                <a:solidFill>
                  <a:srgbClr val="17202A"/>
                </a:solidFill>
              </a:defRPr>
            </a:pPr>
            <a:r>
              <a:t>• CRUD complet sur produits et catégories</a:t>
            </a:r>
          </a:p>
          <a:p>
            <a:pPr>
              <a:defRPr sz="1400">
                <a:solidFill>
                  <a:srgbClr val="17202A"/>
                </a:solidFill>
              </a:defRPr>
            </a:pPr>
            <a:r>
              <a:t>• Upload d'images pour les produits</a:t>
            </a:r>
          </a:p>
          <a:p>
            <a:pPr>
              <a:defRPr sz="1400">
                <a:solidFill>
                  <a:srgbClr val="17202A"/>
                </a:solidFill>
              </a:defRPr>
            </a:pPr>
            <a:r>
              <a:t>• Gestion et suivi de toutes les commandes</a:t>
            </a:r>
          </a:p>
          <a:p>
            <a:pPr>
              <a:defRPr sz="1400">
                <a:solidFill>
                  <a:srgbClr val="17202A"/>
                </a:solidFill>
              </a:defRPr>
            </a:pPr>
            <a:r>
              <a:t>• Changement de statut des commandes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2468880"/>
            <a:ext cx="54864" cy="3200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— Stack technique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3566160" cy="45720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143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356616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5F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7202A"/>
                </a:solidFill>
              </a:defRPr>
            </a:pPr>
            <a:r>
              <a:t>• PHP 8 / Laravel 13</a:t>
            </a:r>
          </a:p>
          <a:p>
            <a:pPr>
              <a:defRPr sz="1400">
                <a:solidFill>
                  <a:srgbClr val="17202A"/>
                </a:solidFill>
              </a:defRPr>
            </a:pPr>
            <a:r>
              <a:t>• Laravel Sanctum (auth par token)</a:t>
            </a:r>
          </a:p>
          <a:p>
            <a:pPr>
              <a:defRPr sz="1400">
                <a:solidFill>
                  <a:srgbClr val="17202A"/>
                </a:solidFill>
              </a:defRPr>
            </a:pPr>
            <a:r>
              <a:t>• Eloquent ORM</a:t>
            </a:r>
          </a:p>
          <a:p>
            <a:pPr>
              <a:defRPr sz="1400">
                <a:solidFill>
                  <a:srgbClr val="17202A"/>
                </a:solidFill>
              </a:defRPr>
            </a:pPr>
            <a:r>
              <a:t>• SQLite (base de données légère)</a:t>
            </a:r>
          </a:p>
          <a:p>
            <a:pPr>
              <a:defRPr sz="1400">
                <a:solidFill>
                  <a:srgbClr val="17202A"/>
                </a:solidFill>
              </a:defRPr>
            </a:pPr>
            <a:r>
              <a:t>• API REST (JSON)</a:t>
            </a:r>
          </a:p>
          <a:p>
            <a:pPr>
              <a:defRPr sz="1400">
                <a:solidFill>
                  <a:srgbClr val="17202A"/>
                </a:solidFill>
              </a:defRPr>
            </a:pPr>
            <a:r>
              <a:t>• Middleware Admin personnalisé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143000"/>
            <a:ext cx="3566160" cy="457200"/>
          </a:xfrm>
          <a:prstGeom prst="rect">
            <a:avLst/>
          </a:prstGeom>
          <a:solidFill>
            <a:srgbClr val="218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60520" y="1143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600200"/>
            <a:ext cx="356616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5F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169164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7202A"/>
                </a:solidFill>
              </a:defRPr>
            </a:pPr>
            <a:r>
              <a:t>• React 18</a:t>
            </a:r>
          </a:p>
          <a:p>
            <a:pPr>
              <a:defRPr sz="1400">
                <a:solidFill>
                  <a:srgbClr val="17202A"/>
                </a:solidFill>
              </a:defRPr>
            </a:pPr>
            <a:r>
              <a:t>• Vite (bundler ultra-rapide)</a:t>
            </a:r>
          </a:p>
          <a:p>
            <a:pPr>
              <a:defRPr sz="1400">
                <a:solidFill>
                  <a:srgbClr val="17202A"/>
                </a:solidFill>
              </a:defRPr>
            </a:pPr>
            <a:r>
              <a:t>• Tailwind CSS v4</a:t>
            </a:r>
          </a:p>
          <a:p>
            <a:pPr>
              <a:defRPr sz="1400">
                <a:solidFill>
                  <a:srgbClr val="17202A"/>
                </a:solidFill>
              </a:defRPr>
            </a:pPr>
            <a:r>
              <a:t>• Axios (client HTTP)</a:t>
            </a:r>
          </a:p>
          <a:p>
            <a:pPr>
              <a:defRPr sz="1400">
                <a:solidFill>
                  <a:srgbClr val="17202A"/>
                </a:solidFill>
              </a:defRPr>
            </a:pPr>
            <a:r>
              <a:t>• React Router v6</a:t>
            </a:r>
          </a:p>
          <a:p>
            <a:pPr>
              <a:defRPr sz="1400">
                <a:solidFill>
                  <a:srgbClr val="17202A"/>
                </a:solidFill>
              </a:defRPr>
            </a:pPr>
            <a:r>
              <a:t>• Context API (Auth + Cart)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143000"/>
            <a:ext cx="3566160" cy="457200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01000" y="1143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Outils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1600200"/>
            <a:ext cx="356616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5F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0" y="169164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7202A"/>
                </a:solidFill>
              </a:defRPr>
            </a:pPr>
            <a:r>
              <a:t>• Composer (dépendances PHP)</a:t>
            </a:r>
          </a:p>
          <a:p>
            <a:pPr>
              <a:defRPr sz="1400">
                <a:solidFill>
                  <a:srgbClr val="17202A"/>
                </a:solidFill>
              </a:defRPr>
            </a:pPr>
            <a:r>
              <a:t>• npm (dépendances JS)</a:t>
            </a:r>
          </a:p>
          <a:p>
            <a:pPr>
              <a:defRPr sz="1400">
                <a:solidFill>
                  <a:srgbClr val="17202A"/>
                </a:solidFill>
              </a:defRPr>
            </a:pPr>
            <a:r>
              <a:t>• Git (contrôle de version)</a:t>
            </a:r>
          </a:p>
          <a:p>
            <a:pPr>
              <a:defRPr sz="1400">
                <a:solidFill>
                  <a:srgbClr val="17202A"/>
                </a:solidFill>
              </a:defRPr>
            </a:pPr>
            <a:r>
              <a:t>• Storage symlink (images)</a:t>
            </a:r>
          </a:p>
          <a:p>
            <a:pPr>
              <a:defRPr sz="1400">
                <a:solidFill>
                  <a:srgbClr val="17202A"/>
                </a:solidFill>
              </a:defRPr>
            </a:pPr>
            <a:r>
              <a:t>• CORS configuré</a:t>
            </a:r>
          </a:p>
          <a:p>
            <a:pPr>
              <a:defRPr sz="1400">
                <a:solidFill>
                  <a:srgbClr val="17202A"/>
                </a:solidFill>
              </a:defRPr>
            </a:pPr>
            <a:r>
              <a:t>• Seeders (données initiales)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 — Architecture du système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7432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218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43200" cy="73152"/>
          </a:xfrm>
          <a:prstGeom prst="rect">
            <a:avLst/>
          </a:prstGeom>
          <a:solidFill>
            <a:srgbClr val="218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2743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7202A"/>
                </a:solidFill>
              </a:rPr>
              <a:t>Navigateur
(Client Web)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188720"/>
            <a:ext cx="32004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0" y="1188720"/>
            <a:ext cx="320040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7202A"/>
                </a:solidFill>
              </a:rPr>
              <a:t>Frontend
React + Vite
localhost:5173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1188720"/>
            <a:ext cx="329184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1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503920" y="1188720"/>
            <a:ext cx="3291840" cy="73152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0" y="128016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7202A"/>
                </a:solidFill>
              </a:rPr>
              <a:t>Backend
Laravel API
localhost:8000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3931920"/>
            <a:ext cx="32004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218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0" y="3931920"/>
            <a:ext cx="3200400" cy="73152"/>
          </a:xfrm>
          <a:prstGeom prst="rect">
            <a:avLst/>
          </a:prstGeom>
          <a:solidFill>
            <a:srgbClr val="218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40233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7202A"/>
                </a:solidFill>
              </a:rPr>
              <a:t>Contextes React
AuthContext / CartContext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3931920"/>
            <a:ext cx="329184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1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503920" y="3931920"/>
            <a:ext cx="3291840" cy="73152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0" y="4023360"/>
            <a:ext cx="32918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17202A"/>
                </a:solidFill>
              </a:rPr>
              <a:t>Base de données
</a:t>
            </a:r>
            <a:r>
              <a:rPr lang="en-US" sz="1400" b="1" i="0" dirty="0" err="1">
                <a:solidFill>
                  <a:srgbClr val="17202A"/>
                </a:solidFill>
              </a:rPr>
              <a:t>mysql</a:t>
            </a:r>
            <a:r>
              <a:rPr sz="1400" b="1" i="0" dirty="0">
                <a:solidFill>
                  <a:srgbClr val="17202A"/>
                </a:solidFill>
              </a:rPr>
              <a:t>
(6 tables)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1920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D6D7E"/>
                </a:solidFill>
              </a:rPr>
              <a:t>HTTP / HTTPS 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1920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D6D7E"/>
                </a:solidFill>
              </a:rPr>
              <a:t>Axios / API REST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017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D6D7E"/>
                </a:solidFill>
              </a:rPr>
              <a:t>↕  Sync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3017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D6D7E"/>
                </a:solidFill>
              </a:rPr>
              <a:t>↕  Eloquent 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7607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D6D7E"/>
                </a:solidFill>
              </a:rPr>
              <a:t>Architecture découplée : le frontend React communique exclusivement avec le backend via l'API REST. Le backend gère l'authentification (Sanctum), la logique métier et la persistance des données.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— Base de données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874519" cy="2194560"/>
          </a:xfrm>
          <a:prstGeom prst="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874519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600200"/>
            <a:ext cx="1728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id, name, email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947672"/>
            <a:ext cx="1728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password,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2295144"/>
            <a:ext cx="1728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telephone, adresse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0007" y="1188720"/>
            <a:ext cx="1874519" cy="2194560"/>
          </a:xfrm>
          <a:prstGeom prst="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350007" y="1188720"/>
            <a:ext cx="1874519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50007" y="1188720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categories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59" y="1600200"/>
            <a:ext cx="1728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id, nom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59" y="1947672"/>
            <a:ext cx="1728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description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25694" y="1188720"/>
            <a:ext cx="1874519" cy="2194560"/>
          </a:xfrm>
          <a:prstGeom prst="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25694" y="1188720"/>
            <a:ext cx="1874519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25694" y="1188720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products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6" y="1600200"/>
            <a:ext cx="1728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id, category_id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6" y="1947672"/>
            <a:ext cx="1728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nom, 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6" y="2295144"/>
            <a:ext cx="1728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prix, stock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6" y="2642616"/>
            <a:ext cx="1728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image, actif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6" y="2990088"/>
            <a:ext cx="1728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date_expiration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584448"/>
            <a:ext cx="1874519" cy="2194560"/>
          </a:xfrm>
          <a:prstGeom prst="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74320" y="3584448"/>
            <a:ext cx="1874519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3584448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orders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" y="3995928"/>
            <a:ext cx="1728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id, user_id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" y="4343400"/>
            <a:ext cx="1728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total, statut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" y="4690872"/>
            <a:ext cx="1728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adresse, telephone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" y="5038344"/>
            <a:ext cx="1728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notes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50007" y="3584448"/>
            <a:ext cx="1874519" cy="2194560"/>
          </a:xfrm>
          <a:prstGeom prst="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350007" y="3584448"/>
            <a:ext cx="1874519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350007" y="3584448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order_items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59" y="3995928"/>
            <a:ext cx="1728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id, order_id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59" y="4343400"/>
            <a:ext cx="1728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product_id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3159" y="4690872"/>
            <a:ext cx="1728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quantite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23159" y="5038344"/>
            <a:ext cx="1728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prix_unitaire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25694" y="3584448"/>
            <a:ext cx="1874519" cy="2194560"/>
          </a:xfrm>
          <a:prstGeom prst="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425694" y="3584448"/>
            <a:ext cx="1874519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25694" y="3584448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cart_items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98846" y="3995928"/>
            <a:ext cx="1728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id, user_id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98846" y="4343400"/>
            <a:ext cx="1728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product_id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98846" y="4690872"/>
            <a:ext cx="1728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quantite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1188720"/>
            <a:ext cx="603504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D5F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26480" y="123444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6B3C"/>
                </a:solidFill>
              </a:rPr>
              <a:t>Relations Eloquent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0" y="1737360"/>
            <a:ext cx="5760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7202A"/>
                </a:solidFill>
              </a:defRPr>
            </a:pPr>
            <a:r>
              <a:t>• User  →  hasMany Orders</a:t>
            </a:r>
          </a:p>
          <a:p>
            <a:pPr>
              <a:defRPr sz="1300">
                <a:solidFill>
                  <a:srgbClr val="17202A"/>
                </a:solidFill>
              </a:defRPr>
            </a:pPr>
            <a:r>
              <a:t>• User  →  hasMany CartItems</a:t>
            </a:r>
          </a:p>
          <a:p>
            <a:pPr>
              <a:defRPr sz="1300">
                <a:solidFill>
                  <a:srgbClr val="17202A"/>
                </a:solidFill>
              </a:defRPr>
            </a:pPr>
            <a:r>
              <a:t>• Category  →  hasMany Products</a:t>
            </a:r>
          </a:p>
          <a:p>
            <a:pPr>
              <a:defRPr sz="1300">
                <a:solidFill>
                  <a:srgbClr val="17202A"/>
                </a:solidFill>
              </a:defRPr>
            </a:pPr>
            <a:r>
              <a:t>• Product  →  belongsTo Category</a:t>
            </a:r>
          </a:p>
          <a:p>
            <a:pPr>
              <a:defRPr sz="1300">
                <a:solidFill>
                  <a:srgbClr val="17202A"/>
                </a:solidFill>
              </a:defRPr>
            </a:pPr>
            <a:r>
              <a:t>• Order  →  hasMany OrderItems</a:t>
            </a:r>
          </a:p>
          <a:p>
            <a:pPr>
              <a:defRPr sz="1300">
                <a:solidFill>
                  <a:srgbClr val="17202A"/>
                </a:solidFill>
              </a:defRPr>
            </a:pPr>
            <a:r>
              <a:t>• OrderItem  →  belongsTo Product</a:t>
            </a:r>
          </a:p>
          <a:p>
            <a:pPr>
              <a:defRPr sz="1300">
                <a:solidFill>
                  <a:srgbClr val="17202A"/>
                </a:solidFill>
              </a:defRPr>
            </a:pPr>
            <a:r>
              <a:t>• CartItem  →  belongsTo Product</a:t>
            </a:r>
          </a:p>
          <a:p>
            <a:pPr>
              <a:defRPr sz="1300">
                <a:solidFill>
                  <a:srgbClr val="17202A"/>
                </a:solidFill>
              </a:defRPr>
            </a:pPr>
            <a:r>
              <a:t>• Statuts commande : en_attente,</a:t>
            </a:r>
          </a:p>
          <a:p>
            <a:pPr>
              <a:defRPr sz="1300">
                <a:solidFill>
                  <a:srgbClr val="17202A"/>
                </a:solidFill>
              </a:defRPr>
            </a:pPr>
            <a:r>
              <a:t>•   confirmee, livree, annulee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— API REST — Backend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3657600" cy="411480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1430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Publiques (sans auth)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365760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D5F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645920"/>
            <a:ext cx="3383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7202A"/>
                </a:solidFill>
              </a:defRPr>
            </a:pPr>
            <a:r>
              <a:t>• POST  /api/register</a:t>
            </a:r>
          </a:p>
          <a:p>
            <a:pPr>
              <a:defRPr sz="1200">
                <a:solidFill>
                  <a:srgbClr val="17202A"/>
                </a:solidFill>
              </a:defRPr>
            </a:pPr>
            <a:r>
              <a:t>• POST  /api/login</a:t>
            </a:r>
          </a:p>
          <a:p>
            <a:pPr>
              <a:defRPr sz="1200">
                <a:solidFill>
                  <a:srgbClr val="17202A"/>
                </a:solidFill>
              </a:defRPr>
            </a:pPr>
            <a:r>
              <a:t>• GET   /api/categories</a:t>
            </a:r>
          </a:p>
          <a:p>
            <a:pPr>
              <a:defRPr sz="1200">
                <a:solidFill>
                  <a:srgbClr val="17202A"/>
                </a:solidFill>
              </a:defRPr>
            </a:pPr>
            <a:r>
              <a:t>• GET   /api/categories/{id}</a:t>
            </a:r>
          </a:p>
          <a:p>
            <a:pPr>
              <a:defRPr sz="1200">
                <a:solidFill>
                  <a:srgbClr val="17202A"/>
                </a:solidFill>
              </a:defRPr>
            </a:pPr>
            <a:r>
              <a:t>• GET   /api/products</a:t>
            </a:r>
          </a:p>
          <a:p>
            <a:pPr>
              <a:defRPr sz="1200">
                <a:solidFill>
                  <a:srgbClr val="17202A"/>
                </a:solidFill>
              </a:defRPr>
            </a:pPr>
            <a:r>
              <a:t>• GET   /api/products/{id}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143000"/>
            <a:ext cx="3657600" cy="411480"/>
          </a:xfrm>
          <a:prstGeom prst="rect">
            <a:avLst/>
          </a:prstGeom>
          <a:solidFill>
            <a:srgbClr val="218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60520" y="11430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Authentifiées (Sanctum)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554480"/>
            <a:ext cx="365760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D5F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1645920"/>
            <a:ext cx="3383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7202A"/>
                </a:solidFill>
              </a:defRPr>
            </a:pPr>
            <a:r>
              <a:t>• POST  /api/logout</a:t>
            </a:r>
          </a:p>
          <a:p>
            <a:pPr>
              <a:defRPr sz="1200">
                <a:solidFill>
                  <a:srgbClr val="17202A"/>
                </a:solidFill>
              </a:defRPr>
            </a:pPr>
            <a:r>
              <a:t>• GET   /api/profile</a:t>
            </a:r>
          </a:p>
          <a:p>
            <a:pPr>
              <a:defRPr sz="1200">
                <a:solidFill>
                  <a:srgbClr val="17202A"/>
                </a:solidFill>
              </a:defRPr>
            </a:pPr>
            <a:r>
              <a:t>• PUT   /api/profile</a:t>
            </a:r>
          </a:p>
          <a:p>
            <a:pPr>
              <a:defRPr sz="1200">
                <a:solidFill>
                  <a:srgbClr val="17202A"/>
                </a:solidFill>
              </a:defRPr>
            </a:pPr>
            <a:r>
              <a:t>• GET/POST  /api/cart</a:t>
            </a:r>
          </a:p>
          <a:p>
            <a:pPr>
              <a:defRPr sz="1200">
                <a:solidFill>
                  <a:srgbClr val="17202A"/>
                </a:solidFill>
              </a:defRPr>
            </a:pPr>
            <a:r>
              <a:t>• PUT/DELETE  /api/cart/{id}</a:t>
            </a:r>
          </a:p>
          <a:p>
            <a:pPr>
              <a:defRPr sz="1200">
                <a:solidFill>
                  <a:srgbClr val="17202A"/>
                </a:solidFill>
              </a:defRPr>
            </a:pPr>
            <a:r>
              <a:t>• DELETE  /api/cart</a:t>
            </a:r>
          </a:p>
          <a:p>
            <a:pPr>
              <a:defRPr sz="1200">
                <a:solidFill>
                  <a:srgbClr val="17202A"/>
                </a:solidFill>
              </a:defRPr>
            </a:pPr>
            <a:r>
              <a:t>• GET/POST  /api/orders</a:t>
            </a:r>
          </a:p>
          <a:p>
            <a:pPr>
              <a:defRPr sz="1200">
                <a:solidFill>
                  <a:srgbClr val="17202A"/>
                </a:solidFill>
              </a:defRPr>
            </a:pPr>
            <a:r>
              <a:t>• GET   /api/orders/{id}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143000"/>
            <a:ext cx="3657600" cy="41148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0" y="11430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Admin uniquement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554480"/>
            <a:ext cx="365760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D5F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80" y="1645920"/>
            <a:ext cx="3383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7202A"/>
                </a:solidFill>
              </a:defRPr>
            </a:pPr>
            <a:r>
              <a:t>• POST  /api/categories</a:t>
            </a:r>
          </a:p>
          <a:p>
            <a:pPr>
              <a:defRPr sz="1200">
                <a:solidFill>
                  <a:srgbClr val="17202A"/>
                </a:solidFill>
              </a:defRPr>
            </a:pPr>
            <a:r>
              <a:t>• PUT/DELETE  /api/categories/{id}</a:t>
            </a:r>
          </a:p>
          <a:p>
            <a:pPr>
              <a:defRPr sz="1200">
                <a:solidFill>
                  <a:srgbClr val="17202A"/>
                </a:solidFill>
              </a:defRPr>
            </a:pPr>
            <a:r>
              <a:t>• POST  /api/products</a:t>
            </a:r>
          </a:p>
          <a:p>
            <a:pPr>
              <a:defRPr sz="1200">
                <a:solidFill>
                  <a:srgbClr val="17202A"/>
                </a:solidFill>
              </a:defRPr>
            </a:pPr>
            <a:r>
              <a:t>• POST  /api/products/{id}</a:t>
            </a:r>
          </a:p>
          <a:p>
            <a:pPr>
              <a:defRPr sz="1200">
                <a:solidFill>
                  <a:srgbClr val="17202A"/>
                </a:solidFill>
              </a:defRPr>
            </a:pPr>
            <a:r>
              <a:t>• DELETE  /api/products/{id}</a:t>
            </a:r>
          </a:p>
          <a:p>
            <a:pPr>
              <a:defRPr sz="1200">
                <a:solidFill>
                  <a:srgbClr val="17202A"/>
                </a:solidFill>
              </a:defRPr>
            </a:pPr>
            <a:r>
              <a:t>• GET   /api/admin/orders</a:t>
            </a:r>
          </a:p>
          <a:p>
            <a:pPr>
              <a:defRPr sz="1200">
                <a:solidFill>
                  <a:srgbClr val="17202A"/>
                </a:solidFill>
              </a:defRPr>
            </a:pPr>
            <a:r>
              <a:t>• PUT   /api/admin/orders/{id}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94360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D6D7E"/>
                </a:solidFill>
              </a:rPr>
              <a:t>25 routes au total  •  Réponses JSON  •  Pagination 20 articles/page  •  Upload image (max 2 Mo)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— Interface Client (Frontend)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35661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D5F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356616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Accueil / Catalogue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7202A"/>
                </a:solidFill>
              </a:defRPr>
            </a:pPr>
            <a:r>
              <a:t>• Catalogue paginé (20 produits/page)</a:t>
            </a:r>
          </a:p>
          <a:p>
            <a:pPr>
              <a:defRPr sz="1200">
                <a:solidFill>
                  <a:srgbClr val="17202A"/>
                </a:solidFill>
              </a:defRPr>
            </a:pPr>
            <a:r>
              <a:t>• Barre de recherche en temps réel</a:t>
            </a:r>
          </a:p>
          <a:p>
            <a:pPr>
              <a:defRPr sz="1200">
                <a:solidFill>
                  <a:srgbClr val="17202A"/>
                </a:solidFill>
              </a:defRPr>
            </a:pPr>
            <a:r>
              <a:t>• Filtre par catégorie</a:t>
            </a:r>
          </a:p>
          <a:p>
            <a:pPr>
              <a:defRPr sz="1200">
                <a:solidFill>
                  <a:srgbClr val="17202A"/>
                </a:solidFill>
              </a:defRPr>
            </a:pPr>
            <a:r>
              <a:t>• Bouton Ajouter au panier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143000"/>
            <a:ext cx="35661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D5F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0" y="1143000"/>
            <a:ext cx="356616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0" y="1143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Détail Produit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6002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7202A"/>
                </a:solidFill>
              </a:defRPr>
            </a:pPr>
            <a:r>
              <a:t>• Tous les détails du produit</a:t>
            </a:r>
          </a:p>
          <a:p>
            <a:pPr>
              <a:defRPr sz="1200">
                <a:solidFill>
                  <a:srgbClr val="17202A"/>
                </a:solidFill>
              </a:defRPr>
            </a:pPr>
            <a:r>
              <a:t>• Sélecteur de quantité (1 → stock)</a:t>
            </a:r>
          </a:p>
          <a:p>
            <a:pPr>
              <a:defRPr sz="1200">
                <a:solidFill>
                  <a:srgbClr val="17202A"/>
                </a:solidFill>
              </a:defRPr>
            </a:pPr>
            <a:r>
              <a:t>• Bouton Ajouter au panier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1143000"/>
            <a:ext cx="35661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D5F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09560" y="1143000"/>
            <a:ext cx="356616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09560" y="1143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Panier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16002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7202A"/>
                </a:solidFill>
              </a:defRPr>
            </a:pPr>
            <a:r>
              <a:t>• Liste articles avec modification</a:t>
            </a:r>
          </a:p>
          <a:p>
            <a:pPr>
              <a:defRPr sz="1200">
                <a:solidFill>
                  <a:srgbClr val="17202A"/>
                </a:solidFill>
              </a:defRPr>
            </a:pPr>
            <a:r>
              <a:t>• Calcul du total en temps réel</a:t>
            </a:r>
          </a:p>
          <a:p>
            <a:pPr>
              <a:defRPr sz="1200">
                <a:solidFill>
                  <a:srgbClr val="17202A"/>
                </a:solidFill>
              </a:defRPr>
            </a:pPr>
            <a:r>
              <a:t>• Formulaire adresse / téléphone</a:t>
            </a:r>
          </a:p>
          <a:p>
            <a:pPr>
              <a:defRPr sz="1200">
                <a:solidFill>
                  <a:srgbClr val="17202A"/>
                </a:solidFill>
              </a:defRPr>
            </a:pPr>
            <a:r>
              <a:t>• Validation et envoi de commande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657600"/>
            <a:ext cx="35661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D5F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3657600"/>
            <a:ext cx="356616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" y="36576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Mes Commandes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148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7202A"/>
                </a:solidFill>
              </a:defRPr>
            </a:pPr>
            <a:r>
              <a:t>• Liste de toutes ses commandes</a:t>
            </a:r>
          </a:p>
          <a:p>
            <a:pPr>
              <a:defRPr sz="1200">
                <a:solidFill>
                  <a:srgbClr val="17202A"/>
                </a:solidFill>
              </a:defRPr>
            </a:pPr>
            <a:r>
              <a:t>• Accordéon détail par commande</a:t>
            </a:r>
          </a:p>
          <a:p>
            <a:pPr>
              <a:defRPr sz="1200">
                <a:solidFill>
                  <a:srgbClr val="17202A"/>
                </a:solidFill>
              </a:defRPr>
            </a:pPr>
            <a:r>
              <a:t>• Badge de statut coloré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3657600"/>
            <a:ext cx="35661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D5F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114800" y="3657600"/>
            <a:ext cx="356616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0" y="36576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Profil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1148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7202A"/>
                </a:solidFill>
              </a:defRPr>
            </a:pPr>
            <a:r>
              <a:t>• Modifier nom, tel, adresse</a:t>
            </a:r>
          </a:p>
          <a:p>
            <a:pPr>
              <a:defRPr sz="1200">
                <a:solidFill>
                  <a:srgbClr val="17202A"/>
                </a:solidFill>
              </a:defRPr>
            </a:pPr>
            <a:r>
              <a:t>• Changer mot de passe (optionnel)</a:t>
            </a:r>
          </a:p>
          <a:p>
            <a:pPr>
              <a:defRPr sz="1200">
                <a:solidFill>
                  <a:srgbClr val="17202A"/>
                </a:solidFill>
              </a:defRPr>
            </a:pPr>
            <a:r>
              <a:t>• Feedback succès / erreur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09560" y="3657600"/>
            <a:ext cx="35661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D5F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909560" y="3657600"/>
            <a:ext cx="356616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09560" y="36576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Login / Inscription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41148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7202A"/>
                </a:solidFill>
              </a:defRPr>
            </a:pPr>
            <a:r>
              <a:t>• Formulaire de connexion</a:t>
            </a:r>
          </a:p>
          <a:p>
            <a:pPr>
              <a:defRPr sz="1200">
                <a:solidFill>
                  <a:srgbClr val="17202A"/>
                </a:solidFill>
              </a:defRPr>
            </a:pPr>
            <a:r>
              <a:t>• Inscription complète</a:t>
            </a:r>
          </a:p>
          <a:p>
            <a:pPr>
              <a:defRPr sz="1200">
                <a:solidFill>
                  <a:srgbClr val="17202A"/>
                </a:solidFill>
              </a:defRPr>
            </a:pPr>
            <a:r>
              <a:t>• Erreurs champ par champ</a:t>
            </a:r>
          </a:p>
          <a:p>
            <a:pPr>
              <a:defRPr sz="1200">
                <a:solidFill>
                  <a:srgbClr val="17202A"/>
                </a:solidFill>
              </a:defRPr>
            </a:pPr>
            <a:r>
              <a:t>• Redirection automatique rôle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07 — Interface Admin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2743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5F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743200" cy="41148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24688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202A"/>
                </a:solidFill>
              </a:defRPr>
            </a:pPr>
            <a:r>
              <a:t>• Nombre de produits</a:t>
            </a:r>
          </a:p>
          <a:p>
            <a:pPr>
              <a:defRPr sz="1250">
                <a:solidFill>
                  <a:srgbClr val="17202A"/>
                </a:solidFill>
              </a:defRPr>
            </a:pPr>
            <a:r>
              <a:t>• Nombre de catégories</a:t>
            </a:r>
          </a:p>
          <a:p>
            <a:pPr>
              <a:defRPr sz="1250">
                <a:solidFill>
                  <a:srgbClr val="17202A"/>
                </a:solidFill>
              </a:defRPr>
            </a:pPr>
            <a:r>
              <a:t>• Total commandes</a:t>
            </a:r>
          </a:p>
          <a:p>
            <a:pPr>
              <a:defRPr sz="1250">
                <a:solidFill>
                  <a:srgbClr val="17202A"/>
                </a:solidFill>
              </a:defRPr>
            </a:pPr>
            <a:r>
              <a:t>• Commandes en attente</a:t>
            </a:r>
          </a:p>
          <a:p>
            <a:pPr>
              <a:defRPr sz="1250">
                <a:solidFill>
                  <a:srgbClr val="17202A"/>
                </a:solidFill>
              </a:defRPr>
            </a:pPr>
            <a:r>
              <a:t>• Liens rapides vers les sections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00984" y="1143000"/>
            <a:ext cx="2743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5F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00984" y="1143000"/>
            <a:ext cx="2743200" cy="411480"/>
          </a:xfrm>
          <a:prstGeom prst="rect">
            <a:avLst/>
          </a:prstGeom>
          <a:solidFill>
            <a:srgbClr val="218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00984" y="1143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Gestion Produits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8144" y="1645920"/>
            <a:ext cx="24688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202A"/>
                </a:solidFill>
              </a:defRPr>
            </a:pPr>
            <a:r>
              <a:t>• Formulaire CRUD complet</a:t>
            </a:r>
          </a:p>
          <a:p>
            <a:pPr>
              <a:defRPr sz="1250">
                <a:solidFill>
                  <a:srgbClr val="17202A"/>
                </a:solidFill>
              </a:defRPr>
            </a:pPr>
            <a:r>
              <a:t>• Upload d'image produit</a:t>
            </a:r>
          </a:p>
          <a:p>
            <a:pPr>
              <a:defRPr sz="1250">
                <a:solidFill>
                  <a:srgbClr val="17202A"/>
                </a:solidFill>
              </a:defRPr>
            </a:pPr>
            <a:r>
              <a:t>• Liste avec aperçu image</a:t>
            </a:r>
          </a:p>
          <a:p>
            <a:pPr>
              <a:defRPr sz="1250">
                <a:solidFill>
                  <a:srgbClr val="17202A"/>
                </a:solidFill>
              </a:defRPr>
            </a:pPr>
            <a:r>
              <a:t>• Stock et statut actif/inactif</a:t>
            </a:r>
          </a:p>
          <a:p>
            <a:pPr>
              <a:defRPr sz="1250">
                <a:solidFill>
                  <a:srgbClr val="17202A"/>
                </a:solidFill>
              </a:defRPr>
            </a:pPr>
            <a:r>
              <a:t>• Modification inline (pré-rempli)</a:t>
            </a:r>
          </a:p>
          <a:p>
            <a:pPr>
              <a:defRPr sz="1250">
                <a:solidFill>
                  <a:srgbClr val="17202A"/>
                </a:solidFill>
              </a:defRPr>
            </a:pPr>
            <a:r>
              <a:t>• Suppression avec image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1928" y="1143000"/>
            <a:ext cx="2743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5F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81928" y="1143000"/>
            <a:ext cx="27432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81928" y="1143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Gestion Catégories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645920"/>
            <a:ext cx="24688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202A"/>
                </a:solidFill>
              </a:defRPr>
            </a:pPr>
            <a:r>
              <a:t>• Formulaire CRUD simple</a:t>
            </a:r>
          </a:p>
          <a:p>
            <a:pPr>
              <a:defRPr sz="1250">
                <a:solidFill>
                  <a:srgbClr val="17202A"/>
                </a:solidFill>
              </a:defRPr>
            </a:pPr>
            <a:r>
              <a:t>• Compteur de produits / catégorie</a:t>
            </a:r>
          </a:p>
          <a:p>
            <a:pPr>
              <a:defRPr sz="1250">
                <a:solidFill>
                  <a:srgbClr val="17202A"/>
                </a:solidFill>
              </a:defRPr>
            </a:pPr>
            <a:r>
              <a:t>• Modification et suppression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62872" y="1143000"/>
            <a:ext cx="2743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5F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262872" y="1143000"/>
            <a:ext cx="2743200" cy="41148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62872" y="1143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Gestion Commandes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1645920"/>
            <a:ext cx="24688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202A"/>
                </a:solidFill>
              </a:defRPr>
            </a:pPr>
            <a:r>
              <a:t>• Toutes les commandes (paginées)</a:t>
            </a:r>
          </a:p>
          <a:p>
            <a:pPr>
              <a:defRPr sz="1250">
                <a:solidFill>
                  <a:srgbClr val="17202A"/>
                </a:solidFill>
              </a:defRPr>
            </a:pPr>
            <a:r>
              <a:t>• Accordéon détail de chaque commande</a:t>
            </a:r>
          </a:p>
          <a:p>
            <a:pPr>
              <a:defRPr sz="1250">
                <a:solidFill>
                  <a:srgbClr val="17202A"/>
                </a:solidFill>
              </a:defRPr>
            </a:pPr>
            <a:r>
              <a:t>• Boutons changement de statut</a:t>
            </a:r>
          </a:p>
          <a:p>
            <a:pPr>
              <a:defRPr sz="1250">
                <a:solidFill>
                  <a:srgbClr val="17202A"/>
                </a:solidFill>
              </a:defRPr>
            </a:pPr>
            <a:r>
              <a:t>• 4 statuts : en_attente, confirmée,</a:t>
            </a:r>
          </a:p>
          <a:p>
            <a:pPr>
              <a:defRPr sz="1250">
                <a:solidFill>
                  <a:srgbClr val="17202A"/>
                </a:solidFill>
              </a:defRPr>
            </a:pPr>
            <a:r>
              <a:t>•   livrée, annulée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548640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D6D7E"/>
                </a:solidFill>
              </a:rPr>
              <a:t>Accès réservé aux comptes avec role = 'admin'  •  AdminRoute bloque tout accès non autorisé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08 — Sécurité &amp; Authentification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2743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5F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743200" cy="41148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Laravel Sanctum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24688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202A"/>
                </a:solidFill>
              </a:defRPr>
            </a:pPr>
            <a:r>
              <a:t>• Authentification par token Bearer</a:t>
            </a:r>
          </a:p>
          <a:p>
            <a:pPr>
              <a:defRPr sz="1250">
                <a:solidFill>
                  <a:srgbClr val="17202A"/>
                </a:solidFill>
              </a:defRPr>
            </a:pPr>
            <a:r>
              <a:t>• Token stocké dans localStorage</a:t>
            </a:r>
          </a:p>
          <a:p>
            <a:pPr>
              <a:defRPr sz="1250">
                <a:solidFill>
                  <a:srgbClr val="17202A"/>
                </a:solidFill>
              </a:defRPr>
            </a:pPr>
            <a:r>
              <a:t>• Envoyé automatiquement par Axios</a:t>
            </a:r>
          </a:p>
          <a:p>
            <a:pPr>
              <a:defRPr sz="1250">
                <a:solidFill>
                  <a:srgbClr val="17202A"/>
                </a:solidFill>
              </a:defRPr>
            </a:pPr>
            <a:r>
              <a:t>• Révocation à la déconnexion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300984" y="1143000"/>
            <a:ext cx="2743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5F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00984" y="1143000"/>
            <a:ext cx="2743200" cy="41148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00984" y="1143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Middleware 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8144" y="1645920"/>
            <a:ext cx="24688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202A"/>
                </a:solidFill>
              </a:defRPr>
            </a:pPr>
            <a:r>
              <a:t>• Vérifie role === 'admin'</a:t>
            </a:r>
          </a:p>
          <a:p>
            <a:pPr>
              <a:defRPr sz="1250">
                <a:solidFill>
                  <a:srgbClr val="17202A"/>
                </a:solidFill>
              </a:defRPr>
            </a:pPr>
            <a:r>
              <a:t>• Retourne HTTP 403 sinon</a:t>
            </a:r>
          </a:p>
          <a:p>
            <a:pPr>
              <a:defRPr sz="1250">
                <a:solidFill>
                  <a:srgbClr val="17202A"/>
                </a:solidFill>
              </a:defRPr>
            </a:pPr>
            <a:r>
              <a:t>• Alias 'admin' dans bootstrap/app.php</a:t>
            </a:r>
          </a:p>
          <a:p>
            <a:pPr>
              <a:defRPr sz="1250">
                <a:solidFill>
                  <a:srgbClr val="17202A"/>
                </a:solidFill>
              </a:defRPr>
            </a:pPr>
            <a:r>
              <a:t>• Appliqué sur toutes les routes admin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1928" y="1143000"/>
            <a:ext cx="2743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5F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81928" y="1143000"/>
            <a:ext cx="2743200" cy="41148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81928" y="1143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Validation &amp; Sécurité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645920"/>
            <a:ext cx="24688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202A"/>
                </a:solidFill>
              </a:defRPr>
            </a:pPr>
            <a:r>
              <a:t>• Validation Laravel sur toutes les entrées</a:t>
            </a:r>
          </a:p>
          <a:p>
            <a:pPr>
              <a:defRPr sz="1250">
                <a:solidFill>
                  <a:srgbClr val="17202A"/>
                </a:solidFill>
              </a:defRPr>
            </a:pPr>
            <a:r>
              <a:t>• Hash bcrypt des mots de passe</a:t>
            </a:r>
          </a:p>
          <a:p>
            <a:pPr>
              <a:defRPr sz="1250">
                <a:solidFill>
                  <a:srgbClr val="17202A"/>
                </a:solidFill>
              </a:defRPr>
            </a:pPr>
            <a:r>
              <a:t>• Vérification d'appartenance (panier)</a:t>
            </a:r>
          </a:p>
          <a:p>
            <a:pPr>
              <a:defRPr sz="1250">
                <a:solidFill>
                  <a:srgbClr val="17202A"/>
                </a:solidFill>
              </a:defRPr>
            </a:pPr>
            <a:r>
              <a:t>• Transactions DB pour les commandes</a:t>
            </a:r>
          </a:p>
          <a:p>
            <a:pPr>
              <a:defRPr sz="1250">
                <a:solidFill>
                  <a:srgbClr val="17202A"/>
                </a:solidFill>
              </a:defRPr>
            </a:pPr>
            <a:r>
              <a:t>• Vérification de stock avant commande</a:t>
            </a:r>
          </a:p>
          <a:p>
            <a:pPr>
              <a:defRPr sz="1250">
                <a:solidFill>
                  <a:srgbClr val="17202A"/>
                </a:solidFill>
              </a:defRPr>
            </a:pPr>
            <a:r>
              <a:t>• CORS : origines autorisées uniquement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62872" y="1143000"/>
            <a:ext cx="2743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5F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262872" y="1143000"/>
            <a:ext cx="2743200" cy="41148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62872" y="1143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Route Guards React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1645920"/>
            <a:ext cx="24688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202A"/>
                </a:solidFill>
              </a:defRPr>
            </a:pPr>
            <a:r>
              <a:t>• ProtectedRoute : redirige si non connecté</a:t>
            </a:r>
          </a:p>
          <a:p>
            <a:pPr>
              <a:defRPr sz="1250">
                <a:solidFill>
                  <a:srgbClr val="17202A"/>
                </a:solidFill>
              </a:defRPr>
            </a:pPr>
            <a:r>
              <a:t>• AdminRoute : redirige si non admin</a:t>
            </a:r>
          </a:p>
          <a:p>
            <a:pPr>
              <a:defRPr sz="1250">
                <a:solidFill>
                  <a:srgbClr val="17202A"/>
                </a:solidFill>
              </a:defRPr>
            </a:pPr>
            <a:r>
              <a:t>• AuthContext vérifie le token au démarrage</a:t>
            </a:r>
          </a:p>
          <a:p>
            <a:pPr>
              <a:defRPr sz="1250">
                <a:solidFill>
                  <a:srgbClr val="17202A"/>
                </a:solidFill>
              </a:defRPr>
            </a:pPr>
            <a:r>
              <a:t>• Erreurs 401/403 gérées côté client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09 — Lancer le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539496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394960" cy="45720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Backend — Laravel (port 8000)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5394960" cy="338328"/>
          </a:xfrm>
          <a:prstGeom prst="rect">
            <a:avLst/>
          </a:prstGeom>
          <a:solidFill>
            <a:srgbClr val="172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618488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$ cd backend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47672"/>
            <a:ext cx="5394960" cy="3383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$ composer install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95144"/>
            <a:ext cx="5394960" cy="338328"/>
          </a:xfrm>
          <a:prstGeom prst="rect">
            <a:avLst/>
          </a:prstGeom>
          <a:solidFill>
            <a:srgbClr val="172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31343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$ cp .env.example .env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42616"/>
            <a:ext cx="5394960" cy="3383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660904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$ php artisan key:generate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90088"/>
            <a:ext cx="5394960" cy="338328"/>
          </a:xfrm>
          <a:prstGeom prst="rect">
            <a:avLst/>
          </a:prstGeom>
          <a:solidFill>
            <a:srgbClr val="172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008376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$ php artisan migrate --seed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37560"/>
            <a:ext cx="5394960" cy="3383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355848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$ php artisan storage:link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685032"/>
            <a:ext cx="5394960" cy="338328"/>
          </a:xfrm>
          <a:prstGeom prst="rect">
            <a:avLst/>
          </a:prstGeom>
          <a:solidFill>
            <a:srgbClr val="172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3703320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$ php artisan serve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143000"/>
            <a:ext cx="539496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218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0" y="1143000"/>
            <a:ext cx="5394960" cy="457200"/>
          </a:xfrm>
          <a:prstGeom prst="rect">
            <a:avLst/>
          </a:prstGeom>
          <a:solidFill>
            <a:srgbClr val="218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11430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Frontend — React / Vite (port 5173)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600200"/>
            <a:ext cx="5394960" cy="338328"/>
          </a:xfrm>
          <a:prstGeom prst="rect">
            <a:avLst/>
          </a:prstGeom>
          <a:solidFill>
            <a:srgbClr val="172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1618488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$ cd frontend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947672"/>
            <a:ext cx="5394960" cy="3383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60" y="1965960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$ npm install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295144"/>
            <a:ext cx="5394960" cy="338328"/>
          </a:xfrm>
          <a:prstGeom prst="rect">
            <a:avLst/>
          </a:prstGeom>
          <a:solidFill>
            <a:srgbClr val="172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231343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$ npm run dev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394960"/>
            <a:ext cx="1143000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5F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5440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B3C"/>
                </a:solidFill>
              </a:rPr>
              <a:t>Comptes de test (après seed)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806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7202A"/>
                </a:solidFill>
              </a:rPr>
              <a:t>Admin :  admin@pharmacie.com  /  password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5806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7202A"/>
                </a:solidFill>
              </a:rPr>
              <a:t>Client :  client@test.com  /  password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172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18C74"/>
                </a:solidFill>
              </a:rPr>
              <a:t>Accéder à :  http://localhost:5173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6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72400" y="-457200"/>
            <a:ext cx="5029200" cy="8229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3152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27AE60"/>
                </a:solidFill>
              </a:rPr>
              <a:t>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28016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6B3C"/>
                </a:solidFill>
              </a:rPr>
              <a:t>Bilan du projet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57400"/>
            <a:ext cx="7315200" cy="45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240280"/>
            <a:ext cx="7040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7202A"/>
                </a:solidFill>
              </a:defRPr>
            </a:pPr>
            <a:r>
              <a:t>• Application full-stack complète et fonctionnelle</a:t>
            </a:r>
          </a:p>
          <a:p>
            <a:pPr>
              <a:defRPr sz="1400">
                <a:solidFill>
                  <a:srgbClr val="17202A"/>
                </a:solidFill>
              </a:defRPr>
            </a:pPr>
            <a:r>
              <a:t>• Architecture découplée Backend / Frontend</a:t>
            </a:r>
          </a:p>
          <a:p>
            <a:pPr>
              <a:defRPr sz="1400">
                <a:solidFill>
                  <a:srgbClr val="17202A"/>
                </a:solidFill>
              </a:defRPr>
            </a:pPr>
            <a:r>
              <a:t>• Authentification sécurisée avec Laravel Sanctum</a:t>
            </a:r>
          </a:p>
          <a:p>
            <a:pPr>
              <a:defRPr sz="1400">
                <a:solidFill>
                  <a:srgbClr val="17202A"/>
                </a:solidFill>
              </a:defRPr>
            </a:pPr>
            <a:r>
              <a:t>• Deux rôles distincts : Admin et Client</a:t>
            </a:r>
          </a:p>
          <a:p>
            <a:pPr>
              <a:defRPr sz="1400">
                <a:solidFill>
                  <a:srgbClr val="17202A"/>
                </a:solidFill>
              </a:defRPr>
            </a:pPr>
            <a:r>
              <a:t>• 25 endpoints API REST bien structurés</a:t>
            </a:r>
          </a:p>
          <a:p>
            <a:pPr>
              <a:defRPr sz="1400">
                <a:solidFill>
                  <a:srgbClr val="17202A"/>
                </a:solidFill>
              </a:defRPr>
            </a:pPr>
            <a:r>
              <a:t>• CRUD complet avec upload d'images</a:t>
            </a:r>
          </a:p>
          <a:p>
            <a:pPr>
              <a:defRPr sz="1400">
                <a:solidFill>
                  <a:srgbClr val="17202A"/>
                </a:solidFill>
              </a:defRPr>
            </a:pPr>
            <a:r>
              <a:t>• Gestion des stocks et transactions DB</a:t>
            </a:r>
          </a:p>
          <a:p>
            <a:pPr>
              <a:defRPr sz="1400">
                <a:solidFill>
                  <a:srgbClr val="17202A"/>
                </a:solidFill>
              </a:defRPr>
            </a:pPr>
            <a:r>
              <a:t>• Interface responsive avec Tailwind CSS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Technologies
maîtrisées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2834640"/>
            <a:ext cx="16459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2834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6B3C"/>
                </a:solidFill>
              </a:rPr>
              <a:t>Laravel 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12680" y="2834640"/>
            <a:ext cx="16459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12680" y="2834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6B3C"/>
                </a:solidFill>
              </a:rPr>
              <a:t>React 18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3520440"/>
            <a:ext cx="16459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3520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6B3C"/>
                </a:solidFill>
              </a:rPr>
              <a:t>Tailwind CSS v4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12680" y="3520440"/>
            <a:ext cx="16459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12680" y="3520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6B3C"/>
                </a:solidFill>
              </a:rPr>
              <a:t>Sanctum Auth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4206240"/>
            <a:ext cx="16459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42062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6B3C"/>
                </a:solidFill>
              </a:rPr>
              <a:t>Eloquent ORM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12680" y="4206240"/>
            <a:ext cx="16459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12680" y="42062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6B3C"/>
                </a:solidFill>
              </a:rPr>
              <a:t>Vite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4892040"/>
            <a:ext cx="16459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4892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6B3C"/>
                </a:solidFill>
              </a:rPr>
              <a:t>SQLite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12680" y="4892040"/>
            <a:ext cx="16459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12680" y="4892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6B3C"/>
                </a:solidFill>
              </a:rPr>
              <a:t>REST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59436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Merci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1306</Words>
  <Application>Microsoft Office PowerPoint</Application>
  <PresentationFormat>Custom</PresentationFormat>
  <Paragraphs>258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Milad El Dlou (VNSLI-Y)</cp:lastModifiedBy>
  <cp:revision>3</cp:revision>
  <dcterms:created xsi:type="dcterms:W3CDTF">2013-01-27T09:14:16Z</dcterms:created>
  <dcterms:modified xsi:type="dcterms:W3CDTF">2026-06-02T18:27:04Z</dcterms:modified>
  <cp:category/>
</cp:coreProperties>
</file>