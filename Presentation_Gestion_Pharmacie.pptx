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946" y="-39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6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132320" y="-457200"/>
            <a:ext cx="5486400" cy="82296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685800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27AE60"/>
                </a:solidFill>
              </a:rPr>
              <a:t>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50876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6B3C"/>
                </a:solidFill>
              </a:rPr>
              <a:t>Gestion Pharmacie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37744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5D6D7E"/>
                </a:solidFill>
              </a:rPr>
              <a:t>Système de gestion d'une pharmacie en ligne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08960"/>
            <a:ext cx="6858000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18C74"/>
                </a:solidFill>
              </a:rPr>
              <a:t>Laravel 13  •  React  •  Vite  •  Tailwind CSS  • 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0332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D6D7E"/>
                </a:solidFill>
              </a:rPr>
              <a:t>API REST  |  Authentification Sanctum  |  Rôles Admin / 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2920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Sommaire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188720"/>
            <a:ext cx="356616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188720"/>
            <a:ext cx="502920" cy="13716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2880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3C"/>
                </a:solidFill>
              </a:rPr>
              <a:t>Vue d'ensemble du projet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74520"/>
            <a:ext cx="2880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D6D7E"/>
                </a:solidFill>
              </a:rPr>
              <a:t>Objectifs et contexte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188720"/>
            <a:ext cx="356616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60520" y="1188720"/>
            <a:ext cx="502920" cy="13716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06240" y="155448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325880"/>
            <a:ext cx="2880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3C"/>
                </a:solidFill>
              </a:rPr>
              <a:t>Stack technique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874520"/>
            <a:ext cx="2880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D6D7E"/>
                </a:solidFill>
              </a:rPr>
              <a:t>Technologies utilisées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1188720"/>
            <a:ext cx="356616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01000" y="1188720"/>
            <a:ext cx="502920" cy="13716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0" y="155448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1325880"/>
            <a:ext cx="2880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3C"/>
                </a:solidFill>
              </a:rPr>
              <a:t>Architecture du système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1874520"/>
            <a:ext cx="2880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D6D7E"/>
                </a:solidFill>
              </a:rPr>
              <a:t>Backend + Frontend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834640"/>
            <a:ext cx="356616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2834640"/>
            <a:ext cx="502920" cy="13716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320040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2971800"/>
            <a:ext cx="2880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3C"/>
                </a:solidFill>
              </a:rPr>
              <a:t>Base de données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520440"/>
            <a:ext cx="2880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D6D7E"/>
                </a:solidFill>
              </a:rPr>
              <a:t>Modèles &amp; relations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20" y="2834640"/>
            <a:ext cx="356616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160520" y="2834640"/>
            <a:ext cx="502920" cy="13716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06240" y="320040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2971800"/>
            <a:ext cx="2880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3C"/>
                </a:solidFill>
              </a:rPr>
              <a:t>API REST — Backend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520440"/>
            <a:ext cx="2880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D6D7E"/>
                </a:solidFill>
              </a:rPr>
              <a:t>Routes &amp; contrôleurs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2834640"/>
            <a:ext cx="356616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001000" y="2834640"/>
            <a:ext cx="502920" cy="13716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46720" y="320040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2971800"/>
            <a:ext cx="2880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3C"/>
                </a:solidFill>
              </a:rPr>
              <a:t>Interface Client (Frontend)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3520440"/>
            <a:ext cx="2880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D6D7E"/>
                </a:solidFill>
              </a:rPr>
              <a:t>Pages &amp; fonctionnalités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480560"/>
            <a:ext cx="356616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20040" y="4480560"/>
            <a:ext cx="502920" cy="13716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5760" y="484632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4617720"/>
            <a:ext cx="2880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3C"/>
                </a:solidFill>
              </a:rPr>
              <a:t>Interface Admin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5166360"/>
            <a:ext cx="2880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D6D7E"/>
                </a:solidFill>
              </a:rPr>
              <a:t>Tableau de bord &amp; gestion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60520" y="4480560"/>
            <a:ext cx="356616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160520" y="4480560"/>
            <a:ext cx="502920" cy="13716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206240" y="484632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4617720"/>
            <a:ext cx="2880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3C"/>
                </a:solidFill>
              </a:rPr>
              <a:t>Sécurité &amp; Authentification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0" y="5166360"/>
            <a:ext cx="2880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D6D7E"/>
                </a:solidFill>
              </a:rPr>
              <a:t>Sanctum, middleware, rôles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01000" y="4480560"/>
            <a:ext cx="356616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8001000" y="4480560"/>
            <a:ext cx="502920" cy="13716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046720" y="484632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95360" y="4617720"/>
            <a:ext cx="2880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B3C"/>
                </a:solidFill>
              </a:rPr>
              <a:t>Lancer le projet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95360" y="5166360"/>
            <a:ext cx="2880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D6D7E"/>
                </a:solidFill>
              </a:rPr>
              <a:t>Installation &amp; démarrage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01 — Vue d'ensemble du projet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6B3C"/>
                </a:solidFill>
              </a:rPr>
              <a:t>Contexte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7202A"/>
                </a:solidFill>
              </a:rPr>
              <a:t>Application web complète pour la gestion d'une pharmacie en ligne. Elle permet à une pharmacie de présenter son catalogue, gérer les commandes clients, et administrer ses produits et stocks depuis un tableau de bord dédié.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468880"/>
            <a:ext cx="5394960" cy="3200400"/>
          </a:xfrm>
          <a:prstGeom prst="rect">
            <a:avLst/>
          </a:prstGeom>
          <a:solidFill>
            <a:srgbClr val="FFFFFF"/>
          </a:solidFill>
          <a:ln>
            <a:solidFill>
              <a:srgbClr val="D5F5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25603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6B3C"/>
                </a:solidFill>
              </a:rPr>
              <a:t>Fonctionnalités Client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880360"/>
            <a:ext cx="51206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7202A"/>
                </a:solidFill>
              </a:defRPr>
            </a:pPr>
            <a:r>
              <a:t>• Consulter le catalogue de médicaments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Rechercher et filtrer par catégorie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Ajouter des produits au panier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Passer et suivre ses commandes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Gérer son profil personnel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468880"/>
            <a:ext cx="5486400" cy="3200400"/>
          </a:xfrm>
          <a:prstGeom prst="rect">
            <a:avLst/>
          </a:prstGeom>
          <a:solidFill>
            <a:srgbClr val="FFFFFF"/>
          </a:solidFill>
          <a:ln>
            <a:solidFill>
              <a:srgbClr val="D5F5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25603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6B3C"/>
                </a:solidFill>
              </a:rPr>
              <a:t>Fonctionnalités Admin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880360"/>
            <a:ext cx="52120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7202A"/>
                </a:solidFill>
              </a:defRPr>
            </a:pPr>
            <a:r>
              <a:t>• Tableau de bord avec statistiques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CRUD complet sur produits et catégories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Upload d'images pour les produits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Gestion et suivi de toutes les commandes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Changement de statut des commandes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2468880"/>
            <a:ext cx="54864" cy="3200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 — Stack technique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143000"/>
            <a:ext cx="3566160" cy="4572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600200"/>
            <a:ext cx="35661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5F5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3291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7202A"/>
                </a:solidFill>
              </a:defRPr>
            </a:pPr>
            <a:r>
              <a:t>• PHP 8 / Laravel 13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Laravel Sanctum (auth par token)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Eloquent ORM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SQLite (base de données légère)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API REST (JSON)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Middleware Admin personnalisé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143000"/>
            <a:ext cx="3566160" cy="457200"/>
          </a:xfrm>
          <a:prstGeom prst="rect">
            <a:avLst/>
          </a:prstGeom>
          <a:solidFill>
            <a:srgbClr val="218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6052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Frontend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600200"/>
            <a:ext cx="35661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5F5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0" y="1691640"/>
            <a:ext cx="3291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7202A"/>
                </a:solidFill>
              </a:defRPr>
            </a:pPr>
            <a:r>
              <a:t>• React 18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Vite (bundler ultra-rapide)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Tailwind CSS v4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Axios (client HTTP)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React Router v6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Context API (Auth + Cart)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143000"/>
            <a:ext cx="3566160" cy="457200"/>
          </a:xfrm>
          <a:prstGeom prst="rect">
            <a:avLst/>
          </a:prstGeom>
          <a:solidFill>
            <a:srgbClr val="5D6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0100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Outils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1600200"/>
            <a:ext cx="35661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5F5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38160" y="1691640"/>
            <a:ext cx="3291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7202A"/>
                </a:solidFill>
              </a:defRPr>
            </a:pPr>
            <a:r>
              <a:t>• Composer (dépendances PHP)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npm (dépendances JS)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Git (contrôle de version)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Storage symlink (images)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CORS configuré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Seeders (données initiales)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03 — Architecture du système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274320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218C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73152"/>
          </a:xfrm>
          <a:prstGeom prst="rect">
            <a:avLst/>
          </a:prstGeom>
          <a:solidFill>
            <a:srgbClr val="218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7202A"/>
                </a:solidFill>
              </a:rPr>
              <a:t>Navigateur
(Client Web)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1188720"/>
            <a:ext cx="320040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0" y="1188720"/>
            <a:ext cx="3200400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7202A"/>
                </a:solidFill>
              </a:rPr>
              <a:t>Frontend
React + Vite
localhost:5173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0" y="1188720"/>
            <a:ext cx="329184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1A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503920" y="1188720"/>
            <a:ext cx="3291840" cy="73152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03920" y="128016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7202A"/>
                </a:solidFill>
              </a:rPr>
              <a:t>Backend
Laravel API
localhost:8000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3931920"/>
            <a:ext cx="32004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218C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0" y="3931920"/>
            <a:ext cx="3200400" cy="73152"/>
          </a:xfrm>
          <a:prstGeom prst="rect">
            <a:avLst/>
          </a:prstGeom>
          <a:solidFill>
            <a:srgbClr val="218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0" y="402336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7202A"/>
                </a:solidFill>
              </a:rPr>
              <a:t>Contextes React
AuthContext / CartContext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3931920"/>
            <a:ext cx="329184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1A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503920" y="3931920"/>
            <a:ext cx="3291840" cy="73152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03920" y="402336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7202A"/>
                </a:solidFill>
              </a:rPr>
              <a:t>Base de données
SQLite
(6 tables)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D6D7E"/>
                </a:solidFill>
              </a:rPr>
              <a:t>HTTP / HTTPS 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D6D7E"/>
                </a:solidFill>
              </a:rPr>
              <a:t>Axios / API REST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017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D6D7E"/>
                </a:solidFill>
              </a:rPr>
              <a:t>↕  Sync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3017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D6D7E"/>
                </a:solidFill>
              </a:rPr>
              <a:t>↕  Eloquent 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7607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D6D7E"/>
                </a:solidFill>
              </a:rPr>
              <a:t>Architecture découplée : le frontend React communique exclusivement avec le backend via l'API REST. Le backend gère l'authentification (Sanctum), la logique métier et la persistance des données.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04 — Base de données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1874519" cy="2194560"/>
          </a:xfrm>
          <a:prstGeom prst="rect">
            <a:avLst/>
          </a:prstGeom>
          <a:solidFill>
            <a:srgbClr val="FFFFFF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1874519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18745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1600200"/>
            <a:ext cx="1728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7202A"/>
                </a:solidFill>
              </a:rPr>
              <a:t>id, name, email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1947672"/>
            <a:ext cx="1728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7202A"/>
                </a:solidFill>
              </a:rPr>
              <a:t>password, 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2295144"/>
            <a:ext cx="1728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7202A"/>
                </a:solidFill>
              </a:rPr>
              <a:t>telephone, adresse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50007" y="1188720"/>
            <a:ext cx="1874519" cy="2194560"/>
          </a:xfrm>
          <a:prstGeom prst="rect">
            <a:avLst/>
          </a:prstGeom>
          <a:solidFill>
            <a:srgbClr val="FFFFFF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350007" y="1188720"/>
            <a:ext cx="1874519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350007" y="1188720"/>
            <a:ext cx="18745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categories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59" y="1600200"/>
            <a:ext cx="1728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7202A"/>
                </a:solidFill>
              </a:rPr>
              <a:t>id, nom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59" y="1947672"/>
            <a:ext cx="1728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7202A"/>
                </a:solidFill>
              </a:rPr>
              <a:t>description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25694" y="1188720"/>
            <a:ext cx="1874519" cy="2194560"/>
          </a:xfrm>
          <a:prstGeom prst="rect">
            <a:avLst/>
          </a:prstGeom>
          <a:solidFill>
            <a:srgbClr val="FFFFFF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425694" y="1188720"/>
            <a:ext cx="1874519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25694" y="1188720"/>
            <a:ext cx="18745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products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6" y="1600200"/>
            <a:ext cx="1728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7202A"/>
                </a:solidFill>
              </a:rPr>
              <a:t>id, category_id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6" y="1947672"/>
            <a:ext cx="1728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7202A"/>
                </a:solidFill>
              </a:rPr>
              <a:t>nom, description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6" y="2295144"/>
            <a:ext cx="1728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7202A"/>
                </a:solidFill>
              </a:rPr>
              <a:t>prix, stock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6" y="2642616"/>
            <a:ext cx="1728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7202A"/>
                </a:solidFill>
              </a:rPr>
              <a:t>image, actif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6" y="2990088"/>
            <a:ext cx="1728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7202A"/>
                </a:solidFill>
              </a:rPr>
              <a:t>date_expiration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584448"/>
            <a:ext cx="1874519" cy="2194560"/>
          </a:xfrm>
          <a:prstGeom prst="rect">
            <a:avLst/>
          </a:prstGeom>
          <a:solidFill>
            <a:srgbClr val="FFFFFF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74320" y="3584448"/>
            <a:ext cx="1874519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74320" y="3584448"/>
            <a:ext cx="18745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orders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" y="3995928"/>
            <a:ext cx="1728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7202A"/>
                </a:solidFill>
              </a:rPr>
              <a:t>id, user_id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" y="4343400"/>
            <a:ext cx="1728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7202A"/>
                </a:solidFill>
              </a:rPr>
              <a:t>total, statut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" y="4690872"/>
            <a:ext cx="1728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7202A"/>
                </a:solidFill>
              </a:rPr>
              <a:t>adresse, telephone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5038344"/>
            <a:ext cx="1728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7202A"/>
                </a:solidFill>
              </a:rPr>
              <a:t>notes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50007" y="3584448"/>
            <a:ext cx="1874519" cy="2194560"/>
          </a:xfrm>
          <a:prstGeom prst="rect">
            <a:avLst/>
          </a:prstGeom>
          <a:solidFill>
            <a:srgbClr val="FFFFFF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350007" y="3584448"/>
            <a:ext cx="1874519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350007" y="3584448"/>
            <a:ext cx="18745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order_items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23159" y="3995928"/>
            <a:ext cx="1728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7202A"/>
                </a:solidFill>
              </a:rPr>
              <a:t>id, order_id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59" y="4343400"/>
            <a:ext cx="1728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7202A"/>
                </a:solidFill>
              </a:rPr>
              <a:t>product_id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59" y="4690872"/>
            <a:ext cx="1728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7202A"/>
                </a:solidFill>
              </a:rPr>
              <a:t>quantite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23159" y="5038344"/>
            <a:ext cx="1728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7202A"/>
                </a:solidFill>
              </a:rPr>
              <a:t>prix_unitaire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25694" y="3584448"/>
            <a:ext cx="1874519" cy="2194560"/>
          </a:xfrm>
          <a:prstGeom prst="rect">
            <a:avLst/>
          </a:prstGeom>
          <a:solidFill>
            <a:srgbClr val="FFFFFF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425694" y="3584448"/>
            <a:ext cx="1874519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425694" y="3584448"/>
            <a:ext cx="18745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cart_items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98846" y="3995928"/>
            <a:ext cx="1728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7202A"/>
                </a:solidFill>
              </a:rPr>
              <a:t>id, user_id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98846" y="4343400"/>
            <a:ext cx="1728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7202A"/>
                </a:solidFill>
              </a:rPr>
              <a:t>product_id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98846" y="4690872"/>
            <a:ext cx="1728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7202A"/>
                </a:solidFill>
              </a:rPr>
              <a:t>quantite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1188720"/>
            <a:ext cx="6035040" cy="4846320"/>
          </a:xfrm>
          <a:prstGeom prst="rect">
            <a:avLst/>
          </a:prstGeom>
          <a:solidFill>
            <a:srgbClr val="FFFFFF"/>
          </a:solidFill>
          <a:ln>
            <a:solidFill>
              <a:srgbClr val="D5F5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126480" y="1234440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6B3C"/>
                </a:solidFill>
              </a:rPr>
              <a:t>Relations Eloquent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17373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7202A"/>
                </a:solidFill>
              </a:defRPr>
            </a:pPr>
            <a:r>
              <a:t>• User  →  hasMany Orders</a:t>
            </a:r>
          </a:p>
          <a:p>
            <a:pPr>
              <a:defRPr sz="1300">
                <a:solidFill>
                  <a:srgbClr val="17202A"/>
                </a:solidFill>
              </a:defRPr>
            </a:pPr>
            <a:r>
              <a:t>• User  →  hasMany CartItems</a:t>
            </a:r>
          </a:p>
          <a:p>
            <a:pPr>
              <a:defRPr sz="1300">
                <a:solidFill>
                  <a:srgbClr val="17202A"/>
                </a:solidFill>
              </a:defRPr>
            </a:pPr>
            <a:r>
              <a:t>• Category  →  hasMany Products</a:t>
            </a:r>
          </a:p>
          <a:p>
            <a:pPr>
              <a:defRPr sz="1300">
                <a:solidFill>
                  <a:srgbClr val="17202A"/>
                </a:solidFill>
              </a:defRPr>
            </a:pPr>
            <a:r>
              <a:t>• Product  →  belongsTo Category</a:t>
            </a:r>
          </a:p>
          <a:p>
            <a:pPr>
              <a:defRPr sz="1300">
                <a:solidFill>
                  <a:srgbClr val="17202A"/>
                </a:solidFill>
              </a:defRPr>
            </a:pPr>
            <a:r>
              <a:t>• Order  →  hasMany OrderItems</a:t>
            </a:r>
          </a:p>
          <a:p>
            <a:pPr>
              <a:defRPr sz="1300">
                <a:solidFill>
                  <a:srgbClr val="17202A"/>
                </a:solidFill>
              </a:defRPr>
            </a:pPr>
            <a:r>
              <a:t>• OrderItem  →  belongsTo Product</a:t>
            </a:r>
          </a:p>
          <a:p>
            <a:pPr>
              <a:defRPr sz="1300">
                <a:solidFill>
                  <a:srgbClr val="17202A"/>
                </a:solidFill>
              </a:defRPr>
            </a:pPr>
            <a:r>
              <a:t>• CartItem  →  belongsTo Product</a:t>
            </a:r>
          </a:p>
          <a:p>
            <a:pPr>
              <a:defRPr sz="1300">
                <a:solidFill>
                  <a:srgbClr val="17202A"/>
                </a:solidFill>
              </a:defRPr>
            </a:pPr>
            <a:r>
              <a:t>• Statuts commande : en_attente,</a:t>
            </a:r>
          </a:p>
          <a:p>
            <a:pPr>
              <a:defRPr sz="1300">
                <a:solidFill>
                  <a:srgbClr val="17202A"/>
                </a:solidFill>
              </a:defRPr>
            </a:pPr>
            <a:r>
              <a:t>•   confirmee, livree, annulee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05 — API REST — Backend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43000"/>
            <a:ext cx="3657600" cy="411480"/>
          </a:xfrm>
          <a:prstGeom prst="rect">
            <a:avLst/>
          </a:prstGeom>
          <a:solidFill>
            <a:srgbClr val="5D6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11430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Publiques (sans auth)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54480"/>
            <a:ext cx="3657600" cy="4251960"/>
          </a:xfrm>
          <a:prstGeom prst="rect">
            <a:avLst/>
          </a:prstGeom>
          <a:solidFill>
            <a:srgbClr val="FFFFFF"/>
          </a:solidFill>
          <a:ln>
            <a:solidFill>
              <a:srgbClr val="D5F5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645920"/>
            <a:ext cx="33832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7202A"/>
                </a:solidFill>
              </a:defRPr>
            </a:pPr>
            <a:r>
              <a:t>• POST  /api/register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POST  /api/login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GET   /api/categories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GET   /api/categories/{id}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GET   /api/products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GET   /api/products/{id}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143000"/>
            <a:ext cx="3657600" cy="411480"/>
          </a:xfrm>
          <a:prstGeom prst="rect">
            <a:avLst/>
          </a:prstGeom>
          <a:solidFill>
            <a:srgbClr val="218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60520" y="11430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Authentifiées (Sanctum)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554480"/>
            <a:ext cx="3657600" cy="4251960"/>
          </a:xfrm>
          <a:prstGeom prst="rect">
            <a:avLst/>
          </a:prstGeom>
          <a:solidFill>
            <a:srgbClr val="FFFFFF"/>
          </a:solidFill>
          <a:ln>
            <a:solidFill>
              <a:srgbClr val="D5F5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0" y="1645920"/>
            <a:ext cx="33832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7202A"/>
                </a:solidFill>
              </a:defRPr>
            </a:pPr>
            <a:r>
              <a:t>• POST  /api/logout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GET   /api/profile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PUT   /api/profile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GET/POST  /api/cart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PUT/DELETE  /api/cart/{id}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DELETE  /api/cart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GET/POST  /api/orders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GET   /api/orders/{id}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143000"/>
            <a:ext cx="3657600" cy="41148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0" y="11430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Admin uniquement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554480"/>
            <a:ext cx="3657600" cy="4251960"/>
          </a:xfrm>
          <a:prstGeom prst="rect">
            <a:avLst/>
          </a:prstGeom>
          <a:solidFill>
            <a:srgbClr val="FFFFFF"/>
          </a:solidFill>
          <a:ln>
            <a:solidFill>
              <a:srgbClr val="D5F5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80" y="1645920"/>
            <a:ext cx="33832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7202A"/>
                </a:solidFill>
              </a:defRPr>
            </a:pPr>
            <a:r>
              <a:t>• POST  /api/categories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PUT/DELETE  /api/categories/{id}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POST  /api/products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POST  /api/products/{id}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DELETE  /api/products/{id}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GET   /api/admin/orders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PUT   /api/admin/orders/{id}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59436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D6D7E"/>
                </a:solidFill>
              </a:rPr>
              <a:t>25 routes au total  •  Réponses JSON  •  Pagination 20 articles/page  •  Upload image (max 2 Mo)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06 — Interface Client (Frontend)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143000"/>
            <a:ext cx="356616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D5F5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3566160" cy="3657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14300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Accueil / Catalogue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7202A"/>
                </a:solidFill>
              </a:defRPr>
            </a:pPr>
            <a:r>
              <a:t>• Catalogue paginé (20 produits/page)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Barre de recherche en temps réel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Filtre par catégorie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Bouton Ajouter au panier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143000"/>
            <a:ext cx="356616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D5F5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0" y="1143000"/>
            <a:ext cx="3566160" cy="3657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0" y="114300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Détail Produit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7202A"/>
                </a:solidFill>
              </a:defRPr>
            </a:pPr>
            <a:r>
              <a:t>• Tous les détails du produit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Sélecteur de quantité (1 → stock)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Bouton Ajouter au panier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09560" y="1143000"/>
            <a:ext cx="356616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D5F5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909560" y="1143000"/>
            <a:ext cx="3566160" cy="3657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09560" y="114300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Panier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160020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7202A"/>
                </a:solidFill>
              </a:defRPr>
            </a:pPr>
            <a:r>
              <a:t>• Liste articles avec modification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Calcul du total en temps réel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Formulaire adresse / téléphone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Validation et envoi de commande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657600"/>
            <a:ext cx="356616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D5F5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3657600"/>
            <a:ext cx="3566160" cy="3657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0040" y="365760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Mes Commandes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1480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7202A"/>
                </a:solidFill>
              </a:defRPr>
            </a:pPr>
            <a:r>
              <a:t>• Liste de toutes ses commandes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Accordéon détail par commande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Badge de statut coloré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3657600"/>
            <a:ext cx="356616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D5F5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114800" y="3657600"/>
            <a:ext cx="3566160" cy="3657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0" y="365760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Profil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411480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7202A"/>
                </a:solidFill>
              </a:defRPr>
            </a:pPr>
            <a:r>
              <a:t>• Modifier nom, tel, adresse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Changer mot de passe (optionnel)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Feedback succès / erreur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09560" y="3657600"/>
            <a:ext cx="356616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D5F5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909560" y="3657600"/>
            <a:ext cx="3566160" cy="3657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09560" y="365760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Login / Inscription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11480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7202A"/>
                </a:solidFill>
              </a:defRPr>
            </a:pPr>
            <a:r>
              <a:t>• Formulaire de connexion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Inscription complète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Erreurs champ par champ</a:t>
            </a:r>
          </a:p>
          <a:p>
            <a:pPr>
              <a:defRPr sz="1200">
                <a:solidFill>
                  <a:srgbClr val="17202A"/>
                </a:solidFill>
              </a:defRPr>
            </a:pPr>
            <a:r>
              <a:t>• Redirection automatique rôle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07 — Interface Admin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143000"/>
            <a:ext cx="2743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5F5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743200" cy="41148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1430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24688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7202A"/>
                </a:solidFill>
              </a:defRPr>
            </a:pPr>
            <a:r>
              <a:t>• Nombre de produits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Nombre de catégories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Total commandes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Commandes en attente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Liens rapides vers les sections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300984" y="1143000"/>
            <a:ext cx="2743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5F5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300984" y="1143000"/>
            <a:ext cx="2743200" cy="411480"/>
          </a:xfrm>
          <a:prstGeom prst="rect">
            <a:avLst/>
          </a:prstGeom>
          <a:solidFill>
            <a:srgbClr val="218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00984" y="11430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Gestion Produits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38144" y="1645920"/>
            <a:ext cx="24688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7202A"/>
                </a:solidFill>
              </a:defRPr>
            </a:pPr>
            <a:r>
              <a:t>• Formulaire CRUD complet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Upload d'image produit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Liste avec aperçu image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Stock et statut actif/inactif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Modification inline (pré-rempli)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Suppression avec image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143000"/>
            <a:ext cx="2743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5F5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81928" y="1143000"/>
            <a:ext cx="274320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81928" y="11430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Gestion Catégories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1645920"/>
            <a:ext cx="24688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7202A"/>
                </a:solidFill>
              </a:defRPr>
            </a:pPr>
            <a:r>
              <a:t>• Formulaire CRUD simple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Compteur de produits / catégorie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Modification et suppression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62872" y="1143000"/>
            <a:ext cx="2743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5F5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262872" y="1143000"/>
            <a:ext cx="2743200" cy="41148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62872" y="11430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Gestion Commandes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1645920"/>
            <a:ext cx="24688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7202A"/>
                </a:solidFill>
              </a:defRPr>
            </a:pPr>
            <a:r>
              <a:t>• Toutes les commandes (paginées)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Accordéon détail de chaque commande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Boutons changement de statut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4 statuts : en_attente, confirmée,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  livrée, annulée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54864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D6D7E"/>
                </a:solidFill>
              </a:rPr>
              <a:t>Accès réservé aux comptes avec role = 'admin'  •  AdminRoute bloque tout accès non autorisé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08 — Sécurité &amp; Authentification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143000"/>
            <a:ext cx="2743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5F5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2743200" cy="41148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1430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Laravel Sanctum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24688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7202A"/>
                </a:solidFill>
              </a:defRPr>
            </a:pPr>
            <a:r>
              <a:t>• Authentification par token Bearer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Token stocké dans localStorage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Envoyé automatiquement par Axios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Révocation à la déconnexion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300984" y="1143000"/>
            <a:ext cx="2743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5F5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300984" y="1143000"/>
            <a:ext cx="2743200" cy="41148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00984" y="11430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Middleware Admin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38144" y="1645920"/>
            <a:ext cx="24688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7202A"/>
                </a:solidFill>
              </a:defRPr>
            </a:pPr>
            <a:r>
              <a:t>• Vérifie role === 'admin'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Retourne HTTP 403 sinon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Alias 'admin' dans bootstrap/app.php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Appliqué sur toutes les routes admin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143000"/>
            <a:ext cx="2743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5F5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81928" y="1143000"/>
            <a:ext cx="2743200" cy="41148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81928" y="11430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Validation &amp; Sécurité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1645920"/>
            <a:ext cx="24688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7202A"/>
                </a:solidFill>
              </a:defRPr>
            </a:pPr>
            <a:r>
              <a:t>• Validation Laravel sur toutes les entrées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Hash bcrypt des mots de passe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Vérification d'appartenance (panier)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Transactions DB pour les commandes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Vérification de stock avant commande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CORS : origines autorisées uniquement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62872" y="1143000"/>
            <a:ext cx="2743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5F5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262872" y="1143000"/>
            <a:ext cx="2743200" cy="41148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62872" y="11430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Route Guards React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1645920"/>
            <a:ext cx="24688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7202A"/>
                </a:solidFill>
              </a:defRPr>
            </a:pPr>
            <a:r>
              <a:t>• ProtectedRoute : redirige si non connecté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AdminRoute : redirige si non admin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AuthContext vérifie le token au démarrage</a:t>
            </a:r>
          </a:p>
          <a:p>
            <a:pPr>
              <a:defRPr sz="1250">
                <a:solidFill>
                  <a:srgbClr val="17202A"/>
                </a:solidFill>
              </a:defRPr>
            </a:pPr>
            <a:r>
              <a:t>• Erreurs 401/403 gérées côté client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09 — Lancer le projet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43000"/>
            <a:ext cx="53949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394960" cy="4572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Backend — Laravel (port 8000)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5394960" cy="338328"/>
          </a:xfrm>
          <a:prstGeom prst="rect">
            <a:avLst/>
          </a:prstGeom>
          <a:solidFill>
            <a:srgbClr val="172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618488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7AE60"/>
                </a:solidFill>
              </a:rPr>
              <a:t>$ cd backend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47672"/>
            <a:ext cx="5394960" cy="33832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965960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7AE60"/>
                </a:solidFill>
              </a:rPr>
              <a:t>$ composer install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95144"/>
            <a:ext cx="5394960" cy="338328"/>
          </a:xfrm>
          <a:prstGeom prst="rect">
            <a:avLst/>
          </a:prstGeom>
          <a:solidFill>
            <a:srgbClr val="172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313432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7AE60"/>
                </a:solidFill>
              </a:rPr>
              <a:t>$ cp .env.example .env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642616"/>
            <a:ext cx="5394960" cy="33832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2660904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7AE60"/>
                </a:solidFill>
              </a:rPr>
              <a:t>$ php artisan key:generate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990088"/>
            <a:ext cx="5394960" cy="338328"/>
          </a:xfrm>
          <a:prstGeom prst="rect">
            <a:avLst/>
          </a:prstGeom>
          <a:solidFill>
            <a:srgbClr val="172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3008376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7AE60"/>
                </a:solidFill>
              </a:rPr>
              <a:t>$ php artisan migrate --seed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337560"/>
            <a:ext cx="5394960" cy="33832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3355848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7AE60"/>
                </a:solidFill>
              </a:rPr>
              <a:t>$ php artisan storage:link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685032"/>
            <a:ext cx="5394960" cy="338328"/>
          </a:xfrm>
          <a:prstGeom prst="rect">
            <a:avLst/>
          </a:prstGeom>
          <a:solidFill>
            <a:srgbClr val="172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920" y="3703320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7AE60"/>
                </a:solidFill>
              </a:rPr>
              <a:t>$ php artisan serve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1143000"/>
            <a:ext cx="53949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218C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400800" y="1143000"/>
            <a:ext cx="5394960" cy="457200"/>
          </a:xfrm>
          <a:prstGeom prst="rect">
            <a:avLst/>
          </a:prstGeom>
          <a:solidFill>
            <a:srgbClr val="218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11430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Frontend — React / Vite (port 5173)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600200"/>
            <a:ext cx="5394960" cy="338328"/>
          </a:xfrm>
          <a:prstGeom prst="rect">
            <a:avLst/>
          </a:prstGeom>
          <a:solidFill>
            <a:srgbClr val="172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37960" y="1618488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7AE60"/>
                </a:solidFill>
              </a:rPr>
              <a:t>$ cd frontend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947672"/>
            <a:ext cx="5394960" cy="33832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37960" y="1965960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7AE60"/>
                </a:solidFill>
              </a:rPr>
              <a:t>$ npm install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295144"/>
            <a:ext cx="5394960" cy="338328"/>
          </a:xfrm>
          <a:prstGeom prst="rect">
            <a:avLst/>
          </a:prstGeom>
          <a:solidFill>
            <a:srgbClr val="172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37960" y="2313432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7AE60"/>
                </a:solidFill>
              </a:rPr>
              <a:t>$ npm run dev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394960"/>
            <a:ext cx="1143000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5F5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5440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6B3C"/>
                </a:solidFill>
              </a:rPr>
              <a:t>Comptes de test (après seed)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806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7202A"/>
                </a:solidFill>
              </a:rPr>
              <a:t>Admin :  admin@pharmacie.com  /  password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5806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7202A"/>
                </a:solidFill>
              </a:rPr>
              <a:t>Client :  client@test.com  /  password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18C74"/>
                </a:solidFill>
              </a:rPr>
              <a:t>Accéder à :  http://localhost:5173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6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772400" y="-457200"/>
            <a:ext cx="5029200" cy="82296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731520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27AE60"/>
                </a:solidFill>
              </a:rPr>
              <a:t>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2801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6B3C"/>
                </a:solidFill>
              </a:rPr>
              <a:t>Bilan du projet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57400"/>
            <a:ext cx="7315200" cy="457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2240280"/>
            <a:ext cx="70408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7202A"/>
                </a:solidFill>
              </a:defRPr>
            </a:pPr>
            <a:r>
              <a:t>• Application full-stack complète et fonctionnelle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Architecture découplée Backend / Frontend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Authentification sécurisée avec Laravel Sanctum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Deux rôles distincts : Admin et Client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25 endpoints API REST bien structurés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CRUD complet avec upload d'images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Gestion des stocks et transactions DB</a:t>
            </a:r>
          </a:p>
          <a:p>
            <a:pPr>
              <a:defRPr sz="1400">
                <a:solidFill>
                  <a:srgbClr val="17202A"/>
                </a:solidFill>
              </a:defRPr>
            </a:pPr>
            <a:r>
              <a:t>• Interface responsive avec Tailwind 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Technologies
maîtrisées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2834640"/>
            <a:ext cx="16459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283464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6B3C"/>
                </a:solidFill>
              </a:rPr>
              <a:t>Laravel 13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12680" y="2834640"/>
            <a:ext cx="16459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12680" y="283464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6B3C"/>
                </a:solidFill>
              </a:rPr>
              <a:t>React 18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3520440"/>
            <a:ext cx="16459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0" y="352044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6B3C"/>
                </a:solidFill>
              </a:rPr>
              <a:t>Tailwind CSS v4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12680" y="3520440"/>
            <a:ext cx="16459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12680" y="352044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6B3C"/>
                </a:solidFill>
              </a:rPr>
              <a:t>Sanctum Auth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4206240"/>
            <a:ext cx="16459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420624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6B3C"/>
                </a:solidFill>
              </a:rPr>
              <a:t>Eloquent ORM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12680" y="4206240"/>
            <a:ext cx="16459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12680" y="420624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6B3C"/>
                </a:solidFill>
              </a:rPr>
              <a:t>Vite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4892040"/>
            <a:ext cx="16459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0" y="489204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6B3C"/>
                </a:solidFill>
              </a:rPr>
              <a:t>SQLite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12680" y="4892040"/>
            <a:ext cx="16459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012680" y="489204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6B3C"/>
                </a:solidFill>
              </a:rPr>
              <a:t>REST 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943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Merci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1307</Words>
  <Application>Microsoft Office PowerPoint</Application>
  <PresentationFormat>Custom</PresentationFormat>
  <Paragraphs>259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Milad El Dlou (VNSLI-Y)</cp:lastModifiedBy>
  <cp:revision>2</cp:revision>
  <dcterms:created xsi:type="dcterms:W3CDTF">2013-01-27T09:14:16Z</dcterms:created>
  <dcterms:modified xsi:type="dcterms:W3CDTF">2026-05-29T22:47:14Z</dcterms:modified>
  <cp:category/>
</cp:coreProperties>
</file>